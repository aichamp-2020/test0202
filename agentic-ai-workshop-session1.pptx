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6B6D4">
              <a:alpha val="9000"/>
            </a:srgbClr>
          </a:solidFill>
          <a:ln w="12700">
            <a:solidFill>
              <a:srgbClr val="06B6D4">
                <a:alpha val="9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926080"/>
            <a:ext cx="2926080" cy="29260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2194560" cy="27432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 ·  SESSION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Tooling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30906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 ·  LangChain  ·  LangGraph  ·  LangSmith  ·  Tokenizers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Engineering | 2025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OVERVIEW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420624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71600"/>
            <a:ext cx="50292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9264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1847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init, project structure, virtual envs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82312" y="1371600"/>
            <a:ext cx="420624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2312" y="1371600"/>
            <a:ext cx="5029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6304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04104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Setup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04104" y="1847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certs, corporate proxies — why &amp; how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560320"/>
            <a:ext cx="420624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560320"/>
            <a:ext cx="50292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5176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9264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Basics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9264" y="3035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tools, memory, reasoning loops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82312" y="2560320"/>
            <a:ext cx="420624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82312" y="2560320"/>
            <a:ext cx="50292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65176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04104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04104" y="3035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Chains, LCEL, prompts — first working app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3749040"/>
            <a:ext cx="420624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749040"/>
            <a:ext cx="5029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4048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9264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9264" y="42245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graphs, routing, multi-step agents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82312" y="3749040"/>
            <a:ext cx="420624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82312" y="3749040"/>
            <a:ext cx="5029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84048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04104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+ Tokenizers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04104" y="42245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tracing, token math &amp; cost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Agentic AI?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2743200" cy="3474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6152" y="1554480"/>
            <a:ext cx="1005840" cy="1005840"/>
          </a:xfrm>
          <a:prstGeom prst="ellipse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{ }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3127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logic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35112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pipelines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8953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4279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updates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90672" y="29718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2743200" cy="3474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554480"/>
            <a:ext cx="1005840" cy="100584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8328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Call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127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but one-shot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5112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or state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8953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use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4279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self-correct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29718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36208" y="1371600"/>
            <a:ext cx="2743200" cy="3474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6208" y="1371600"/>
            <a:ext cx="27432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04888" y="1554480"/>
            <a:ext cx="1005840" cy="1005840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4888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327648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19088" y="3127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Act → Observe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19088" y="35112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real tools &amp; APIs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19088" y="38953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memory &amp; context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19088" y="4279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loops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SETUP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with uv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8430768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98448"/>
            <a:ext cx="50292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35024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ultra-fast Python package &amp; project manager written in Rust by Astral. It replaces pip, venv, and poetry in a single tool — 10–100× faster. No separate virtual env commands needed.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2084832"/>
            <a:ext cx="4663440" cy="2743200"/>
          </a:xfrm>
          <a:prstGeom prst="rect">
            <a:avLst/>
          </a:prstGeom>
          <a:solidFill>
            <a:srgbClr val="0D1117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76272"/>
            <a:ext cx="446227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uv (one-time, any OS)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-LsSf https://astral.sh/uv/install.sh | 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Windows:  winget install --id=astral-sh.uv -e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your agent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init my-agent-app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my-agent-app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AI libraries (auto-creates .venv)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langchain langgraph langsmith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langchain-openai langchain-anthropic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python-dotenv tiktoken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without activating venv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main.py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93792" y="2084832"/>
            <a:ext cx="356616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1762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my-agent-app/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21808" y="24688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.venv/            ← auto-managed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21808" y="27066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.python-version   ← pinned 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21808" y="2944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pyproject.toml    ← deps config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21808" y="31821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uv.lock           ← reproducible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21808" y="34198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              ← API keys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21808" y="36576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        ← .env listed!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21808" y="38953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21808" y="41330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agents/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21808" y="43708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my_agent.py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CERTIFICATE SETUP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Certificates in Corporate Networks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8430768" cy="502920"/>
          </a:xfrm>
          <a:prstGeom prst="rect">
            <a:avLst/>
          </a:prstGeom>
          <a:solidFill>
            <a:srgbClr val="1A0A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98448"/>
            <a:ext cx="50292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35024"/>
            <a:ext cx="8138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Why this matters: Corporate networks use SSL-inspection proxies that intercept HTTPS. AI SDKs (requests, httpx) throw certificate errors — you must provide your corporate root CA cert.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" y="1920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ERROR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2212848"/>
            <a:ext cx="4114800" cy="1188720"/>
          </a:xfrm>
          <a:prstGeom prst="rect">
            <a:avLst/>
          </a:prstGeom>
          <a:solidFill>
            <a:srgbClr val="0D1117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04288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SSLError: [SSL: CERTIFICATE_VERIFY_FAILED]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Certificate verify failed: unable to get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issuer certificate (_ssl.c:1007)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requests.exceptions.SSLError: HTTPSConnectionPool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retries exceeded with url: /v1/messages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2212848"/>
            <a:ext cx="4114800" cy="1188720"/>
          </a:xfrm>
          <a:prstGeom prst="rect">
            <a:avLst/>
          </a:prstGeom>
          <a:solidFill>
            <a:srgbClr val="0D1117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2304288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file — add these 3 lines: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REQUESTS_CA_BUNDLE=/path/to/corp.pem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SSL_CERT_FILE=/path/to/corp.pem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CURL_CA_BUNDLE=/path/to/corp.pem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 — load at top: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   # picks up the env vars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3520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GET &amp; INSTALL YOUR CERT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384048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831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792" y="38496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IT/DevOps for the corporate root CA certificate file (.pem or .crt)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09651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087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792" y="41056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.crt format:  openssl x509 -in corp.crt -out corp.pem  to convert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4352544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343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" y="4361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corp.pem in your project root and add to .env as shown above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4608576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599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792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it:  python -c "import requests; requests.get('https://api.openai.com')"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CONCEPTS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Fundamentals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91840" y="1481328"/>
            <a:ext cx="2560320" cy="146304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5087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LLM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Agent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1945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71600"/>
            <a:ext cx="50292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538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the next step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21945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371600"/>
            <a:ext cx="5029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4538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2084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tools, APIs, code exec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2788920"/>
            <a:ext cx="21945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788920"/>
            <a:ext cx="5029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8712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3227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tool / env output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21945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788920"/>
            <a:ext cx="50292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712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227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state, plan next move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68880" y="17373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29260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25603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68880" y="29260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7472" y="3977640"/>
            <a:ext cx="2057400" cy="8961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023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" y="4297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the agent can call — search, code, DB, APIs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42032" y="3977640"/>
            <a:ext cx="2057400" cy="8961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4023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33472" y="4297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(context) + long-term (vector DB / store)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36592" y="3977640"/>
            <a:ext cx="2057400" cy="8961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4023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28032" y="4297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knows at each step of the graph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31152" y="3977640"/>
            <a:ext cx="2057400" cy="8961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22592" y="4023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22592" y="4297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logic: call tool? final answer? loop again?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Your First Chain (LCEL)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27432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167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Template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90672" y="131673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|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3280" y="1298448"/>
            <a:ext cx="27432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3167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 (OpenAI)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131673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|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19088" y="1298448"/>
            <a:ext cx="27432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3167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Parser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1819656"/>
            <a:ext cx="5029200" cy="3017520"/>
          </a:xfrm>
          <a:prstGeom prst="rect">
            <a:avLst/>
          </a:prstGeom>
          <a:solidFill>
            <a:srgbClr val="0D1117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11096"/>
            <a:ext cx="482803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langchain_core.prompts import ChatPromptTemplate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langchain_core.output_parsers import StrOutputParser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Choose your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ChatOpenAI(model="gpt-4o-mini", temperature=0)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Build a prompt template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ChatPromptTemplate.from_messages([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("system", "You are a helpful assistant. Be concise."),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("user",   "{question}")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Compose the chain using LCEL (pipe operator)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= prompt | llm | StrOutputParser()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Invoke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chain.invoke({"question": "What is an AI agent?"})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Stream tokens in real-time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chunk in chain.stream({"question": "Explain LangGraph"}):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print(chunk, end="", flush=True)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59552" y="1828800"/>
            <a:ext cx="3200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9552" y="1828800"/>
            <a:ext cx="50292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18928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87568" y="21579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Expression Language — chain with | operator. Everything is a Runnable.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59552" y="2578608"/>
            <a:ext cx="3200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59552" y="2578608"/>
            <a:ext cx="5029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7568" y="26426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87568" y="2907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protocol. Supports invoke, batch, stream, ainvoke (async).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59552" y="3328416"/>
            <a:ext cx="3200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9552" y="3328416"/>
            <a:ext cx="502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33924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Template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87568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input variables. Supports system, user, assistant message roles.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59552" y="4078224"/>
            <a:ext cx="3200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59552" y="4078224"/>
            <a:ext cx="5029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41422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Parser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87568" y="4407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→ StrOutputParser, dict → JsonOutputParser, model → PydanticOutputParser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Stateful Agent Graphs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2057400"/>
            <a:ext cx="960120" cy="438912"/>
          </a:xfrm>
          <a:prstGeom prst="ellipse">
            <a:avLst/>
          </a:prstGeom>
          <a:solidFill>
            <a:srgbClr val="10B981">
              <a:alpha val="22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05740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START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00200" y="1691640"/>
            <a:ext cx="1371600" cy="777240"/>
          </a:xfrm>
          <a:prstGeom prst="ellipse">
            <a:avLst/>
          </a:prstGeom>
          <a:solidFill>
            <a:srgbClr val="06B6D4">
              <a:alpha val="22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Node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298448"/>
            <a:ext cx="1371600" cy="777240"/>
          </a:xfrm>
          <a:prstGeom prst="ellipse">
            <a:avLst/>
          </a:prstGeom>
          <a:solidFill>
            <a:srgbClr val="F59E0B">
              <a:alpha val="22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29844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Node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57800" y="2057400"/>
            <a:ext cx="960120" cy="438912"/>
          </a:xfrm>
          <a:prstGeom prst="ellipse">
            <a:avLst/>
          </a:prstGeom>
          <a:solidFill>
            <a:srgbClr val="7C3AED">
              <a:alpha val="22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205740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21214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71800" y="15361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71800" y="23317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1214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1298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call_tool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74320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final_answer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7472" y="2788920"/>
            <a:ext cx="8430768" cy="2029968"/>
          </a:xfrm>
          <a:prstGeom prst="rect">
            <a:avLst/>
          </a:prstGeom>
          <a:solidFill>
            <a:srgbClr val="0D1117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80360"/>
            <a:ext cx="82296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HumanMessage, AIMessage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Annotated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operator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Define shared state schema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AgentState(TypedDict):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operator.add]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Node functions — take state, return state updates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agent_node(state: AgentState):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llm_with_tools.invoke(state["messages"])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[response]}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tool_node(state: AgentState):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last_msg = state["messages"][-1]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tool_executor.batch(last_msg.tool_calls)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results}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Router — decide next node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router(state: AgentState) -&gt; str: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 = state["messages"][-1]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"tools" if last.tool_calls else END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Build and compile the graph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graph.add_node("agent", agent_node)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graph.add_node("tools", tool_node)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graph.set_entry_point("agent")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graph.add_conditional_edges("agent", router, {"tools":"tools", END:END})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graph.add_edge("tools", "agent")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app.invoke({"messages": [HumanMessage("Search for AI news")]})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LANGSMITH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— Observability &amp; Debugging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8430768" cy="475488"/>
          </a:xfrm>
          <a:prstGeom prst="rect">
            <a:avLst/>
          </a:prstGeom>
          <a:solidFill>
            <a:srgbClr val="1A12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98448"/>
            <a:ext cx="502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3502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LangSmith as Datadog for your AI — it traces every LLM call, token count, latency, tool invocation and error automatically with zero code changes.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883664"/>
            <a:ext cx="4754880" cy="2450592"/>
          </a:xfrm>
          <a:prstGeom prst="rect">
            <a:avLst/>
          </a:prstGeom>
          <a:solidFill>
            <a:srgbClr val="0D1117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75104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Create account at smith.langchain.com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Add to your .env: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LANGCHAIN_TRACING_V2=true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LANGCHAIN_API_KEY=ls__your_api_key_here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LANGCHAIN_PROJECT=my-agent-project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LANGCHAIN_ENDPOINT=https://api.smith.langchain.com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That's it! Every chain.invoke() is now traced.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spans with @traceable decorator: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langsmith import traceable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@traceable(name="fetch-context", run_type="retriever")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fetch_context(query: str) -&gt; list[str]: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vector_store.similarity_search(query)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85232" y="1883664"/>
            <a:ext cx="3493008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85232" y="1883664"/>
            <a:ext cx="5029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3248" y="19476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13248" y="21762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tree of every step — prompt, response, tool call, latency, tokens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85232" y="2496312"/>
            <a:ext cx="3493008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85232" y="2496312"/>
            <a:ext cx="50292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25603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13248" y="27889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outputs with LLM-as-judge, regex, or custom metrics automatically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85232" y="3108960"/>
            <a:ext cx="3493008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5232" y="3108960"/>
            <a:ext cx="50292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317296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13248" y="340156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regression test sets from production traces with one click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85232" y="3721608"/>
            <a:ext cx="3493008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85232" y="3721608"/>
            <a:ext cx="5029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13248" y="378561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Playground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13248" y="401421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any trace, edit the prompt, compare outputs side-by-side instantly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4434840"/>
            <a:ext cx="8430768" cy="438912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714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 tip: Always use LangSmith in dev. Debugging a multi-hop agent without traces is a nightmare. Free tier: 5,000 traces / month — more than enough to learn 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TOKENIZERS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Tokenizers — What the Model Actually Sees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298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1298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"Agent calls tool to search the web"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1627632"/>
            <a:ext cx="9601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6459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19019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24795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96312" y="1627632"/>
            <a:ext cx="9601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6459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96312" y="19019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6880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75304" y="1627632"/>
            <a:ext cx="9601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16459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tool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75304" y="19019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5507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54296" y="1627632"/>
            <a:ext cx="9601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16459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54296" y="19019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33288" y="1627632"/>
            <a:ext cx="9601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33288" y="16459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search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33288" y="19019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2778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12280" y="1627632"/>
            <a:ext cx="9601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6459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19019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279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891272" y="1627632"/>
            <a:ext cx="9601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91272" y="16459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91272" y="19019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3566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417320" y="22128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tokens total  (= 7 words)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2514600"/>
            <a:ext cx="4892040" cy="2331720"/>
          </a:xfrm>
          <a:prstGeom prst="rect">
            <a:avLst/>
          </a:prstGeom>
          <a:solidFill>
            <a:srgbClr val="0D1117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606040"/>
            <a:ext cx="469087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tiktoken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GPT-4o uses cl100k_base encoding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 = tiktoken.get_encoding("cl100k_base")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"Agent calls tool to search the web"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 = enc.encode(text)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print(f"Tokens: {len(tokens)}")       # → 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print(f"IDs: {tokens}")               # → [24795, ...]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count BEFORE calling the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count_tokens(text: str, model="gpt-4o") -&gt; int: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 = tiktoken.encoding_for_model(model)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len(enc.encode(text))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HuggingFace tokenizer (local / OSS models)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AutoTokenizer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 = AutoTokenizer.from_pretrained("meta-llama/Llama-3-8b")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print(tok.encode("Hello world"))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94960" y="2514600"/>
            <a:ext cx="3383280" cy="521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55117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91072" y="2560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 per token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91072" y="2788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rule of thumb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94960" y="3099816"/>
            <a:ext cx="3383280" cy="521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31363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~¾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291072" y="31455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per token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91072" y="33741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average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94960" y="3685032"/>
            <a:ext cx="3383280" cy="521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372160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291072" y="37307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91072" y="3959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max input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94960" y="4270248"/>
            <a:ext cx="3383280" cy="521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430682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291072" y="43159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pricing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91072" y="4544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= $$$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ESSENTIAL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Things You Need to Know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2519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5029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99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&amp; .env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hardcode. Use python-dotenv and load_dotenv(). Always .gitignore your .env.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53512" y="1527048"/>
            <a:ext cx="1508760" cy="749808"/>
          </a:xfrm>
          <a:prstGeom prst="rect">
            <a:avLst/>
          </a:prstGeom>
          <a:solidFill>
            <a:srgbClr val="0D111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08376" y="1563624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OPENAI_API_KEY=sk-...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ANTHROPIC_API_KEY=sk-ant-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82312" y="1325880"/>
            <a:ext cx="42519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82312" y="1325880"/>
            <a:ext cx="5029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399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9472" y="16916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for reasoning, GPT-4o-mini for speed/cost. Claude 3.5 Sonnet excels at code.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15784" y="1527048"/>
            <a:ext cx="1508760" cy="749808"/>
          </a:xfrm>
          <a:prstGeom prst="rect">
            <a:avLst/>
          </a:prstGeom>
          <a:solidFill>
            <a:srgbClr val="0D1117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0648" y="1563624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 | gpt-4o-mini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claude-3-5-sonnet-20241022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2587752"/>
            <a:ext cx="42519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587752"/>
            <a:ext cx="5029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60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9535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= persona &amp; rules. Few-shot examples boost accuracy by 2–3×.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53512" y="2788920"/>
            <a:ext cx="1508760" cy="749808"/>
          </a:xfrm>
          <a:prstGeom prst="rect">
            <a:avLst/>
          </a:prstGeom>
          <a:solidFill>
            <a:srgbClr val="0D1117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08376" y="2825496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→ rules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→ task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assist. → examples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82312" y="2587752"/>
            <a:ext cx="42519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82312" y="2587752"/>
            <a:ext cx="5029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660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9535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.stream() for responsive UX. Tokens arrive one-by-one, great for chatbots.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15784" y="2788920"/>
            <a:ext cx="1508760" cy="749808"/>
          </a:xfrm>
          <a:prstGeom prst="rect">
            <a:avLst/>
          </a:prstGeom>
          <a:solidFill>
            <a:srgbClr val="0D111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0648" y="2825496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chunk in chain.stream({}):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print(chunk)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3849624"/>
            <a:ext cx="42519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849624"/>
            <a:ext cx="5029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22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&amp; Parallel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21538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ainvoke() for async. Batch independent chains with asyncio.gather().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53512" y="4050792"/>
            <a:ext cx="1508760" cy="749808"/>
          </a:xfrm>
          <a:prstGeom prst="rect">
            <a:avLst/>
          </a:prstGeom>
          <a:solidFill>
            <a:srgbClr val="0D111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08376" y="4087368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chain.ainvoke({...})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asyncio.gather(*t)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82312" y="3849624"/>
            <a:ext cx="42519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82312" y="3849624"/>
            <a:ext cx="5029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922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Vector Stores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19472" y="421538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docs → store in Chroma/Pinecone → retrieve relevant context → augment prompt.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15784" y="4050792"/>
            <a:ext cx="1508760" cy="749808"/>
          </a:xfrm>
          <a:prstGeom prst="rect">
            <a:avLst/>
          </a:prstGeom>
          <a:solidFill>
            <a:srgbClr val="0D1117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70648" y="4087368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embed→store→retrieve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→augment→answer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DISCUSSION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— Talk Amongst Yourselves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2519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53312"/>
            <a:ext cx="548640" cy="1143000"/>
          </a:xfrm>
          <a:prstGeom prst="rect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739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264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70078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tool do you use today for Python dependency management? What is your biggest pain point?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82312" y="1353312"/>
            <a:ext cx="42519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2312" y="1353312"/>
            <a:ext cx="548640" cy="1143000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7739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22392" y="14264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22392" y="170078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tasks on your team are repetitive and rule-based today — that an agent could potentially automate?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615184"/>
            <a:ext cx="42519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615184"/>
            <a:ext cx="548640" cy="1143000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358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6883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2962656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task like "research a topic and write a report" — would you model it as a chain or a graph? Why?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82312" y="2615184"/>
            <a:ext cx="42519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82312" y="2615184"/>
            <a:ext cx="548640" cy="1143000"/>
          </a:xfrm>
          <a:prstGeom prst="rect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30358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22392" y="26883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22392" y="2962656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currently debug LLM outputs in production? What would you gain with full LangSmith traces?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877056"/>
            <a:ext cx="42519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77056"/>
            <a:ext cx="548640" cy="1143000"/>
          </a:xfrm>
          <a:prstGeom prst="rect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2976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950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Economics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" y="42245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build a RAG system with 10k user queries/day, what are your key token budget considerations?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82312" y="3877056"/>
            <a:ext cx="42519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82312" y="3877056"/>
            <a:ext cx="548640" cy="1143000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42976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22392" y="3950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22392" y="42245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API keys live in your architecture? What risks arise when an agent has access to write operations?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2834640" cy="347472"/>
          </a:xfrm>
          <a:prstGeom prst="rect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834640" cy="265176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4813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docs.langchain.com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04825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langchain-ai.github.io/langgraph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261518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docs.smith.langchain.com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" y="31821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docs.astral.sh/uv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19272" y="1005840"/>
            <a:ext cx="2834640" cy="347472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005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9272" y="1371600"/>
            <a:ext cx="2834640" cy="2651760"/>
          </a:xfrm>
          <a:prstGeom prst="rect">
            <a:avLst/>
          </a:prstGeom>
          <a:solidFill>
            <a:srgbClr val="1E293B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4813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full ReAct agent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204825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use: web search + code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261518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31821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patterns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18504" y="1005840"/>
            <a:ext cx="2834640" cy="347472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1005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HOMEWORK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18504" y="1371600"/>
            <a:ext cx="2834640" cy="265176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14813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uv + run your project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28232" y="204825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invoke one LangChain chain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28232" y="261518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LangSmith — trace 10 calls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28232" y="31821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tokens in a prompt you care about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645920" y="4206240"/>
            <a:ext cx="585216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42062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Session 2: Building a Real Agent — Coming Next Week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Workshop - Session 1</dc:title>
  <dc:subject>PptxGenJS Presentation</dc:subject>
  <dc:creator>PptxGenJS</dc:creator>
  <cp:lastModifiedBy>PptxGenJS</cp:lastModifiedBy>
  <cp:revision>1</cp:revision>
  <dcterms:created xsi:type="dcterms:W3CDTF">2026-03-17T11:55:42Z</dcterms:created>
  <dcterms:modified xsi:type="dcterms:W3CDTF">2026-03-17T11:55:42Z</dcterms:modified>
</cp:coreProperties>
</file>